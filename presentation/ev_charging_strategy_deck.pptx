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B1B1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B1B1B"/>
                </a:solidFill>
                <a:latin typeface="Arial"/>
              </a:rPr>
              <a:t>Public charging demand, GWh per year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Private cars</c:v>
                </c:pt>
              </c:strCache>
            </c:strRef>
          </c:tx>
          <c:spPr>
            <a:solidFill>
              <a:srgbClr val="0F7C8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Delhi</c:v>
                  </c:pt>
                  <c:pt idx="1">
                    <c:v>Hyderabad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4.4645</c:v>
                </c:pt>
                <c:pt idx="1">
                  <c:v>4.1246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Cabs</c:v>
                </c:pt>
              </c:strCache>
            </c:strRef>
          </c:tx>
          <c:spPr>
            <a:solidFill>
              <a:srgbClr val="E08A1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Delhi</c:v>
                  </c:pt>
                  <c:pt idx="1">
                    <c:v>Hyderabad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10.734200000000001</c:v>
                </c:pt>
                <c:pt idx="1">
                  <c:v>9.917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3E7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A646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B1B1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B1B1B"/>
                </a:solidFill>
                <a:latin typeface="Arial"/>
              </a:rPr>
              <a:t>NPV, Rs lakh (more chargers = more idle capital)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Delhi</c:v>
                </c:pt>
              </c:strCache>
            </c:strRef>
          </c:tx>
          <c:spPr>
            <a:solidFill>
              <a:srgbClr val="0F7C84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1B1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A: 1x60 kW</c:v>
                  </c:pt>
                  <c:pt idx="1">
                    <c:v>B: 2x60 kW</c:v>
                  </c:pt>
                  <c:pt idx="2">
                    <c:v>C: 2x120 kW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-25.39</c:v>
                </c:pt>
                <c:pt idx="1">
                  <c:v>-45.34</c:v>
                </c:pt>
                <c:pt idx="2">
                  <c:v>-66.39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Hyderabad</c:v>
                </c:pt>
              </c:strCache>
            </c:strRef>
          </c:tx>
          <c:spPr>
            <a:solidFill>
              <a:srgbClr val="E08A1E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1B1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A: 1x60 kW</c:v>
                  </c:pt>
                  <c:pt idx="1">
                    <c:v>B: 2x60 kW</c:v>
                  </c:pt>
                  <c:pt idx="2">
                    <c:v>C: 2x120 kW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-34.85</c:v>
                </c:pt>
                <c:pt idx="1">
                  <c:v>-54.79</c:v>
                </c:pt>
                <c:pt idx="2">
                  <c:v>-95.93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1B1B1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7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A646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B1B1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B1B1B"/>
                </a:solidFill>
                <a:latin typeface="Arial"/>
              </a:rPr>
              <a:t>NPV (Rs lakh) vs utilisation; the national average is 8%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Delhi</c:v>
                </c:pt>
              </c:strCache>
            </c:strRef>
          </c:tx>
          <c:spPr>
            <a:solidFill>
              <a:srgbClr val="0F7C84"/>
            </a:solidFill>
            <a:ln w="25400" cap="flat">
              <a:solidFill>
                <a:srgbClr val="0F7C8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F7C84"/>
              </a:solidFill>
              <a:ln w="9525" cap="flat">
                <a:solidFill>
                  <a:srgbClr val="0F7C8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Sheet1!$A$2:$A$18</c:f>
              <c:multiLvlStrCache>
                <c:ptCount val="17"/>
                <c:lvl>
                  <c:pt idx="0">
                    <c:v>4%</c:v>
                  </c:pt>
                  <c:pt idx="1">
                    <c:v>6%</c:v>
                  </c:pt>
                  <c:pt idx="2">
                    <c:v>8%</c:v>
                  </c:pt>
                  <c:pt idx="3">
                    <c:v>10%</c:v>
                  </c:pt>
                  <c:pt idx="4">
                    <c:v>12%</c:v>
                  </c:pt>
                  <c:pt idx="5">
                    <c:v>14%</c:v>
                  </c:pt>
                  <c:pt idx="6">
                    <c:v>16%</c:v>
                  </c:pt>
                  <c:pt idx="7">
                    <c:v>18%</c:v>
                  </c:pt>
                  <c:pt idx="8">
                    <c:v>20%</c:v>
                  </c:pt>
                  <c:pt idx="9">
                    <c:v>22%</c:v>
                  </c:pt>
                  <c:pt idx="10">
                    <c:v>24%</c:v>
                  </c:pt>
                  <c:pt idx="11">
                    <c:v>26%</c:v>
                  </c:pt>
                  <c:pt idx="12">
                    <c:v>28%</c:v>
                  </c:pt>
                  <c:pt idx="13">
                    <c:v>30%</c:v>
                  </c:pt>
                  <c:pt idx="14">
                    <c:v>32%</c:v>
                  </c:pt>
                  <c:pt idx="15">
                    <c:v>34%</c:v>
                  </c:pt>
                  <c:pt idx="16">
                    <c:v>36%</c:v>
                  </c:pt>
                </c:lvl>
              </c:multiLvlStrCache>
            </c:multiLvl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-47.44</c:v>
                </c:pt>
                <c:pt idx="1">
                  <c:v>-42.54</c:v>
                </c:pt>
                <c:pt idx="2">
                  <c:v>-37.64</c:v>
                </c:pt>
                <c:pt idx="3">
                  <c:v>-32.73</c:v>
                </c:pt>
                <c:pt idx="4">
                  <c:v>-27.83</c:v>
                </c:pt>
                <c:pt idx="5">
                  <c:v>-22.93</c:v>
                </c:pt>
                <c:pt idx="6">
                  <c:v>-18.03</c:v>
                </c:pt>
                <c:pt idx="7">
                  <c:v>-13.8</c:v>
                </c:pt>
                <c:pt idx="8">
                  <c:v>-10.11</c:v>
                </c:pt>
                <c:pt idx="9">
                  <c:v>-6.45</c:v>
                </c:pt>
                <c:pt idx="10">
                  <c:v>-2.8</c:v>
                </c:pt>
                <c:pt idx="11">
                  <c:v>0.86</c:v>
                </c:pt>
                <c:pt idx="12">
                  <c:v>4.52</c:v>
                </c:pt>
                <c:pt idx="13">
                  <c:v>8.17</c:v>
                </c:pt>
                <c:pt idx="14">
                  <c:v>11.83</c:v>
                </c:pt>
                <c:pt idx="15">
                  <c:v>15.49</c:v>
                </c:pt>
                <c:pt idx="16">
                  <c:v>19.14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Hyderabad</c:v>
                </c:pt>
              </c:strCache>
            </c:strRef>
          </c:tx>
          <c:spPr>
            <a:solidFill>
              <a:srgbClr val="E08A1E"/>
            </a:solidFill>
            <a:ln w="25400" cap="flat">
              <a:solidFill>
                <a:srgbClr val="E08A1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08A1E"/>
              </a:solidFill>
              <a:ln w="9525" cap="flat">
                <a:solidFill>
                  <a:srgbClr val="E08A1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Sheet1!$A$2:$A$18</c:f>
              <c:multiLvlStrCache>
                <c:ptCount val="17"/>
                <c:lvl>
                  <c:pt idx="0">
                    <c:v>4%</c:v>
                  </c:pt>
                  <c:pt idx="1">
                    <c:v>6%</c:v>
                  </c:pt>
                  <c:pt idx="2">
                    <c:v>8%</c:v>
                  </c:pt>
                  <c:pt idx="3">
                    <c:v>10%</c:v>
                  </c:pt>
                  <c:pt idx="4">
                    <c:v>12%</c:v>
                  </c:pt>
                  <c:pt idx="5">
                    <c:v>14%</c:v>
                  </c:pt>
                  <c:pt idx="6">
                    <c:v>16%</c:v>
                  </c:pt>
                  <c:pt idx="7">
                    <c:v>18%</c:v>
                  </c:pt>
                  <c:pt idx="8">
                    <c:v>20%</c:v>
                  </c:pt>
                  <c:pt idx="9">
                    <c:v>22%</c:v>
                  </c:pt>
                  <c:pt idx="10">
                    <c:v>24%</c:v>
                  </c:pt>
                  <c:pt idx="11">
                    <c:v>26%</c:v>
                  </c:pt>
                  <c:pt idx="12">
                    <c:v>28%</c:v>
                  </c:pt>
                  <c:pt idx="13">
                    <c:v>30%</c:v>
                  </c:pt>
                  <c:pt idx="14">
                    <c:v>32%</c:v>
                  </c:pt>
                  <c:pt idx="15">
                    <c:v>34%</c:v>
                  </c:pt>
                  <c:pt idx="16">
                    <c:v>36%</c:v>
                  </c:pt>
                </c:lvl>
              </c:multiLvlStrCache>
            </c:multiLvlStrRef>
          </c:cat>
          <c:val>
            <c:numRef>
              <c:f>Sheet1!$C$2:$C$18</c:f>
              <c:numCache>
                <c:formatCode>General</c:formatCode>
                <c:ptCount val="17"/>
                <c:pt idx="0">
                  <c:v>-50.33</c:v>
                </c:pt>
                <c:pt idx="1">
                  <c:v>-46.82</c:v>
                </c:pt>
                <c:pt idx="2">
                  <c:v>-43.32</c:v>
                </c:pt>
                <c:pt idx="3">
                  <c:v>-39.82</c:v>
                </c:pt>
                <c:pt idx="4">
                  <c:v>-36.31</c:v>
                </c:pt>
                <c:pt idx="5">
                  <c:v>-32.81</c:v>
                </c:pt>
                <c:pt idx="6">
                  <c:v>-29.31</c:v>
                </c:pt>
                <c:pt idx="7">
                  <c:v>-25.81</c:v>
                </c:pt>
                <c:pt idx="8">
                  <c:v>-22.3</c:v>
                </c:pt>
                <c:pt idx="9">
                  <c:v>-18.8</c:v>
                </c:pt>
                <c:pt idx="10">
                  <c:v>-15.63</c:v>
                </c:pt>
                <c:pt idx="11">
                  <c:v>-12.83</c:v>
                </c:pt>
                <c:pt idx="12">
                  <c:v>-10.21</c:v>
                </c:pt>
                <c:pt idx="13">
                  <c:v>-7.61</c:v>
                </c:pt>
                <c:pt idx="14">
                  <c:v>-5</c:v>
                </c:pt>
                <c:pt idx="15">
                  <c:v>-2.39</c:v>
                </c:pt>
                <c:pt idx="16">
                  <c:v>0.22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A64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7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A646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Delhi</c:v>
                </c:pt>
              </c:strCache>
            </c:strRef>
          </c:tx>
          <c:spPr>
            <a:solidFill>
              <a:srgbClr val="0F7C84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1B1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Conservative</c:v>
                  </c:pt>
                  <c:pt idx="1">
                    <c:v>Base</c:v>
                  </c:pt>
                  <c:pt idx="2">
                    <c:v>Aggressive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-70.82</c:v>
                </c:pt>
                <c:pt idx="1">
                  <c:v>-25.39</c:v>
                </c:pt>
                <c:pt idx="2">
                  <c:v>22.55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Hyderabad</c:v>
                </c:pt>
              </c:strCache>
            </c:strRef>
          </c:tx>
          <c:spPr>
            <a:solidFill>
              <a:srgbClr val="E08A1E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1B1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Conservative</c:v>
                  </c:pt>
                  <c:pt idx="1">
                    <c:v>Base</c:v>
                  </c:pt>
                  <c:pt idx="2">
                    <c:v>Aggressive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-76.06</c:v>
                </c:pt>
                <c:pt idx="1">
                  <c:v>-34.85</c:v>
                </c:pt>
                <c:pt idx="2">
                  <c:v>14.88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1B1B1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7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A646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decision. Base case fails in both cities because utilisation is far below break-even. Delhi becomes positive only when three controllable levers are pulled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FD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CHARGING STATION FEASIBILITY  |  DELHI vs HYDERABAD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Don't build as designed. Delhi works only as a small, host-powered, unmanned site; Hyderabad does not work yet.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should a charge-point operator invest in one public station (rented site, 10 years) in Delhi, Hyderabad, both or neither, and under what conditions?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175059"/>
          </a:solidFill>
          <a:ln w="12700">
            <a:solidFill>
              <a:srgbClr val="17505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24231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 -25 / -35 lakh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94436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FE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Base-case NPV, Delhi / Hyderabad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FE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(Rs 31 lakh setup, 14.1% cost of capital)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233172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175059"/>
          </a:solidFill>
          <a:ln w="12700">
            <a:solidFill>
              <a:srgbClr val="17505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83280" y="24231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26% / 36%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294436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FE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 needed to break even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FE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8.4% national average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35040" y="233172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175059"/>
          </a:solidFill>
          <a:ln w="12700">
            <a:solidFill>
              <a:srgbClr val="17505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72200" y="24231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C2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 +5.3 lakh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6172200" y="294436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FE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NPV with all 3 levers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FE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 20.9%, payback 4.7 yrs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7947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5C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Delhi case needs a host site with spare grid capacity, no on-site staff and a host share of 10% or less. It still fails the conservative scenario (NPV Rs -19 lakh), so pilot one site before committing more capital.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feasibility study for a hypothetical operator. All figures from the project model (Python and Excel reconcile).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cities have ~15 GWh a year of public charging demand, and cabs are 70% of it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cars on the road (Aug 2026) and the share of their charging bought at public chargers (SAM)</a:t>
            </a:r>
            <a:endParaRPr lang="en-US" sz="1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25880"/>
          <a:ext cx="49377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1325880"/>
            <a:ext cx="3017520" cy="960120"/>
          </a:xfrm>
          <a:prstGeom prst="roundRect">
            <a:avLst>
              <a:gd name="adj" fmla="val 7619"/>
            </a:avLst>
          </a:prstGeom>
          <a:solidFill>
            <a:srgbClr val="F1F6F6"/>
          </a:solidFill>
          <a:ln w="12700">
            <a:solidFill>
              <a:srgbClr val="F1F6F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806440" y="139903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45k / 42k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5806440" y="18928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cars on the road, Delhi / Hyderabad (estimate)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669280" y="2423160"/>
            <a:ext cx="3017520" cy="960120"/>
          </a:xfrm>
          <a:prstGeom prst="roundRect">
            <a:avLst>
              <a:gd name="adj" fmla="val 7619"/>
            </a:avLst>
          </a:prstGeom>
          <a:solidFill>
            <a:srgbClr val="F1F6F6"/>
          </a:solidFill>
          <a:ln w="12700">
            <a:solidFill>
              <a:srgbClr val="F1F6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806440" y="249631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+120% / +100%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5806440" y="299008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E-car sales growth, Jan-Aug 2026 vs 2025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669280" y="3520440"/>
            <a:ext cx="3017520" cy="960120"/>
          </a:xfrm>
          <a:prstGeom prst="roundRect">
            <a:avLst>
              <a:gd name="adj" fmla="val 7619"/>
            </a:avLst>
          </a:prstGeom>
          <a:solidFill>
            <a:srgbClr val="F1F6F6"/>
          </a:solidFill>
          <a:ln w="12700">
            <a:solidFill>
              <a:srgbClr val="F1F6F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806440" y="35935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~81%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5806440" y="40873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charging happens at home or at fleet depots, so only ~19% is open to public stations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Autocar Professional (Sep 2026), EVreporter, Hyderabad RTA, Kazam-AEEE (2026), Goel et al. (2015). Cab share of cars (15%) and cab public-charging share (30%) are assumptions.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Delhi rivals charge Rs 20-22 per unit; in Hyderabad a Rs 13 government network caps prices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fast-charging prices seen on public station listings (23 Sep 2026) and reported network prices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539496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1874520"/>
                <a:gridCol w="1005840"/>
                <a:gridCol w="731520"/>
                <a:gridCol w="10058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Station / network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Rs/kWh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Delhi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GMR Aerocity (Statiq)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Aerocity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kW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Delhi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Statiq Mahipalpur Hub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Airport corridor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25-120 kW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21.99-22.99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Delhi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Glida DLF Avenue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Saket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kW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Delhi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Tata Power / Jio-bp (reported)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30-60 kW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15-22 / 18-20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Divyasree Trinity (Statiq)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HITEC City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 kW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Spider SLN / Solitaire (Statiq)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Gachibowli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 kW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TSIIC IOCL Bunk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Gachibowli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kW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08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TGREDCO network, 200 stations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City-wide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08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+ GST, fixed 10 yrs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126480" y="1325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means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126480" y="1691640"/>
            <a:ext cx="2560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Delhi: price of about Rs 22 (Rs 18.64 net of GST) is realistic; the risk is supply, with 16,000+ points planned by end-2026.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Hyderabad: a cab driver saves ~Rs 9 a unit at the government stations, so our base price is set at Rs 16 net.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Opening: many listed chargers were faulted or unavailable. Reliability, not price, is the only evidence-backed edge.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Statiq public station pages (observed 23 Sep 2026); That's My EV (Aug 2026); Jio-bp; NewsMeter (6 Sep 2026). Small sample: 3 private price points per city.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single 60 kW charger beats bigger hubs, but it still loses money in its first year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case, NPV by configuration (Rs lakh), plus the year-1 economics of the lean station</a:t>
            </a:r>
            <a:endParaRPr lang="en-US" sz="1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25880"/>
          <a:ext cx="42062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325880"/>
          <a:ext cx="37490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005840"/>
                <a:gridCol w="100584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Lean station (A), year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Delhi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 cost (CAPEX)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31.2 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31.2 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of which grid connection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14.8 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14.8 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Utilisation, yr 1 -&gt; yr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7.3% -&gt; 13.6%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7.2% -&gt; 13.4%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Cars per day, yr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Revenue, yr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6.2 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5.3 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EBITDA, yr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-0.9 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-1.8 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EBITDA, yr 5 (margin)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1.5 L (12%)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-0.5 L (-4%)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Contribution per kWh, yr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9.89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7.13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937760" y="42062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A6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unit earns ~Rs 7-10 after electricity and host share, but fixed costs (staff, maintenance, software) of ~Rs 4 lakh a year need 5-8 cars a day just to cover EBITDA.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CAPEX: MHI PM E-DRIVE benchmark costs (Sep 2025), Cars24 (Jun 2026), RIOD listing. L = lakh. 1 L = Rs 1,00,000.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break even the station must be busy 26-36% of the time, 3-4x the Indian average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 (Rs lakh) against average utilisation over 10 years, lean station, base case</a:t>
            </a:r>
            <a:endParaRPr lang="en-US" sz="1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25880"/>
          <a:ext cx="51206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1325880"/>
            <a:ext cx="2834640" cy="960120"/>
          </a:xfrm>
          <a:prstGeom prst="roundRect">
            <a:avLst>
              <a:gd name="adj" fmla="val 7619"/>
            </a:avLst>
          </a:prstGeom>
          <a:solidFill>
            <a:srgbClr val="F1F6F6"/>
          </a:solidFill>
          <a:ln w="12700">
            <a:solidFill>
              <a:srgbClr val="F1F6F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89320" y="13990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16.0 / 22.5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5989320" y="189280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Cars a day needed every year for NPV = 0, Delhi / Hyderabad (20 kWh each)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852160" y="2423160"/>
            <a:ext cx="2834640" cy="960120"/>
          </a:xfrm>
          <a:prstGeom prst="roundRect">
            <a:avLst>
              <a:gd name="adj" fmla="val 7619"/>
            </a:avLst>
          </a:prstGeom>
          <a:solidFill>
            <a:srgbClr val="F1F6F6"/>
          </a:solidFill>
          <a:ln w="12700">
            <a:solidFill>
              <a:srgbClr val="F1F6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89320" y="249631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8.4%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5989320" y="299008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utilisation of India's public DC chargers (14,008 chargers, Apr-Jul 2025)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852160" y="3520440"/>
            <a:ext cx="2834640" cy="960120"/>
          </a:xfrm>
          <a:prstGeom prst="roundRect">
            <a:avLst>
              <a:gd name="adj" fmla="val 7619"/>
            </a:avLst>
          </a:prstGeom>
          <a:solidFill>
            <a:srgbClr val="F1F6F6"/>
          </a:solidFill>
          <a:ln w="12700">
            <a:solidFill>
              <a:srgbClr val="F1F6F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989320" y="359359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4.6 -&gt; 8.6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5989320" y="40873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Cars a day we expect in Delhi, year 1 -&gt; year 5 (base case)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found by solving the full 10-year model for NPV = 0 (flat demand). Utilisation = share of hours a charger is in use. Benchmark: ExperiencesWithEVs Charger Utilization Report, Jul 2025.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the aggressive case beats the 14.1% cost of capital; staffing, demand and grid cost drive value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NPV by scenario (Rs lakh). Right: base-case NPV (Rs lakh) when one input moves</a:t>
            </a:r>
            <a:endParaRPr lang="en-US" sz="1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25880"/>
          <a:ext cx="36576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1148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Aggressive: Delhi IRR 27.2%, payback 4.2 yrs; Hyderabad IRR 23.1%, payback 4.8 yrs. Conservative and base never recover their cost.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89120" y="1325880"/>
          <a:ext cx="429768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188720"/>
                <a:gridCol w="118872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(worse / better)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Delhi NPV range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 NPV range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Staff: 2 people / none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-40 to -12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-50 to -20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 -30% / +30%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-35 to -16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-42 to -28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Grid: new / host's spare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-25 to -9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-35 to -18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CAPEX +20% / -20%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-32 to -19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-42 to -28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-10% / +10%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-31 to -20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-39 to -30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Discount rate 16% / 12%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-26 to -24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-35 to -35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389120" y="324612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(0-2 people) is the biggest swing: a remote-monitored station is essential.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host with spare grid capacity removes Rs 14.8 lakh of CAPEX.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rate barely matters: the problem is volume, not financing.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inputs change demand capture, ramp-up, growth, price, electricity, host share, staff, maintenance and CAPEX together. Full table: outputs/tables/scenarios.csv.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3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Recommendation: Delhi only as a conditional pilot; do not invest in Hyderabad now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45720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005840"/>
                <a:gridCol w="10058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Lever (cumulative)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E3B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3B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3B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3B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D3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Delhi NPV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E3B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3B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3B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3B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D3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 NPV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E3B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3B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3B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3B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D3D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case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E3B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3B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3B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3B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50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-25.4 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E3B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3B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3B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3B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50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-34.9 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E3B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3B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3B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3B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505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host site with spare grid capacity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E3B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3B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3B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3B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50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-8.8 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E3B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3B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3B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3B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50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-18.1 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E3B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3B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3B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3B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505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unmanned (remote-monitored)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E3B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3B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3B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3B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50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2.9 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E3B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3B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3B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3B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50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-4.2 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E3B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3B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3B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3B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505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host share cut to 10%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E3B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3B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3B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3B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50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5.3 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E3B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3B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3B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3B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50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-2.2 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E3B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3B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3B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3B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5059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278892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5C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Delhi: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 only with one 60 kW charger at a host site with spare grid capacity, unmanned, host share of 10% or less (NPV Rs 5.3 L, IRR 20.9%). It still fails the conservative case, so treat it as a pilot.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5C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Hyderabad: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unattractive even with all levers (NPV Rs -2.2 L). Revisit after the Rs 13 TGREDCO network opens and the road-tax waiver decision (Dec 2026).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303520" y="1097280"/>
            <a:ext cx="3383280" cy="3520440"/>
          </a:xfrm>
          <a:prstGeom prst="roundRect">
            <a:avLst>
              <a:gd name="adj" fmla="val 2162"/>
            </a:avLst>
          </a:prstGeom>
          <a:solidFill>
            <a:srgbClr val="175059"/>
          </a:solidFill>
          <a:ln w="12700">
            <a:solidFill>
              <a:srgbClr val="17505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0" y="11887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2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risks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0" y="150876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Fleets charge at their own depots (post-BluSmart)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Charger supply outpaces cars (Delhi 16k points)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war with Rs 13 government network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0" y="26974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2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Due diligence before any money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486400" y="3017520"/>
            <a:ext cx="3017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term sheet: grid capacity, share, tenure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Cab-fleet offtake letter (sessions/day)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DISCOM confirmation of surcharges on EV tariff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utilisation data from 3-5 nearby chargers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Appendix: key base-case assumptions and where they come from</a:t>
            </a:r>
            <a:endParaRPr lang="en-US" sz="2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280160"/>
                <a:gridCol w="1280160"/>
                <a:gridCol w="1188720"/>
                <a:gridCol w="265176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Assumption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Delhi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/ rationale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demand (SAM)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41,641 kWh/day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38,471 kWh/day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4 market sizing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fast stations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Fact/derived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PIB Lok Sabha reply, Dec 2025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 vs fair share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1.25x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1.25x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Assumption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Reliable, well-sited station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Price, net of GST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18.64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16.00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Derived/assumption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Rival listings; Rs 13 govt network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Electricity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5.50/kWh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6.00/kWh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 + est.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DERC Rs 4.50 + surcharges; TGERC LT-IX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 cost (lean)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31.2 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31.2 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Fact/derived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MHI PM E-DRIVE benchmarks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 revenue share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Bolt.Earth: 10-20%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FTE @ Rs 20k/mo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FTE @ Rs 20k/mo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Assumption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Above Delhi minimum wage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 growth per station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7%/yr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7%/yr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Assumption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EVs double, but so do chargers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Discount 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 + assump.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7.02% G-sec + 1.0 x 7.08% ERP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25.17%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25.17%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 115BAA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register of 40 sourced numbers: docs/source_register.md. All assumptions: data/processed/assumptions.csv.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 Charging Station Feasibility - Delhi vs Hyderabad</dc:title>
  <dc:subject>PptxGenJS Presentation</dc:subject>
  <dc:creator>PptxGenJS</dc:creator>
  <cp:lastModifiedBy>PptxGenJS</cp:lastModifiedBy>
  <cp:revision>1</cp:revision>
  <dcterms:created xsi:type="dcterms:W3CDTF">2026-09-24T14:51:09Z</dcterms:created>
  <dcterms:modified xsi:type="dcterms:W3CDTF">2026-09-24T14:51:09Z</dcterms:modified>
</cp:coreProperties>
</file>